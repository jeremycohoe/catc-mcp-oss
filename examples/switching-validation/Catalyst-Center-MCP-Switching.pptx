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64008"/>
          </a:xfrm>
          <a:prstGeom prst="rect">
            <a:avLst/>
          </a:prstGeom>
          <a:solidFill>
            <a:srgbClr val="00B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0BCEB"/>
                </a:solidFill>
                <a:latin typeface="Calibri"/>
              </a:rPr>
              <a:t>CISCO  |  TECHNICAL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5000" b="1">
                <a:solidFill>
                  <a:srgbClr val="FFFFFF"/>
                </a:solidFill>
                <a:latin typeface="Calibri"/>
              </a:rPr>
              <a:t>Catalyst Center MCP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400" b="0">
                <a:solidFill>
                  <a:srgbClr val="C9DAEE"/>
                </a:solidFill>
                <a:latin typeface="Calibri"/>
              </a:rPr>
              <a:t>Switching Management — Capabilities, Validation &amp; Enablement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72800" cy="1371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0BCEB"/>
                </a:solidFill>
                <a:latin typeface="Calibri"/>
              </a:rPr>
              <a:t>Official Cisco DevNet OSS server: cisco-en-programmability/catc-mcp-oss  (release/2.3.7.11)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9DAEE"/>
                </a:solidFill>
                <a:latin typeface="Calibri"/>
              </a:rPr>
              <a:t>Validated live against jcohoe-dnac.cisco.com — Catalyst Center 2.3.7.11.71047.100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2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B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BCEB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"/>
            <a:ext cx="11247120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What We'll Cover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577840" cy="448056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82296" cy="4480560"/>
          </a:xfrm>
          <a:prstGeom prst="rect">
            <a:avLst/>
          </a:prstGeom>
          <a:solidFill>
            <a:srgbClr val="00B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81328"/>
            <a:ext cx="5257800" cy="4297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0D274D"/>
                </a:solidFill>
                <a:latin typeface="Calibri"/>
              </a:rPr>
              <a:t>Context &amp; capability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What the Catalyst Center MCP is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Headline finding: a read-centric switching surface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What it CAN do (validated live)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What it CANNOT do (2.3.7.11 gaps)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Tool catalog by switching category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486400" cy="448056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82296" cy="4480560"/>
          </a:xfrm>
          <a:prstGeom prst="rect">
            <a:avLst/>
          </a:prstGeom>
          <a:solidFill>
            <a:srgbClr val="0051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481328"/>
            <a:ext cx="5166360" cy="4297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0D274D"/>
                </a:solidFill>
                <a:latin typeface="Calibri"/>
              </a:rPr>
              <a:t>Proof, deployment &amp; next steps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Live evidence from a real switch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The one write path, end-to-end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Architecture, deployment &amp; security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Demo playbook of switching use cases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Enhancement asks for Product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35A63"/>
                </a:solidFill>
                <a:latin typeface="Calibri"/>
              </a:rPr>
              <a:t>Catalyst Center MCP — Switching Management  |  Technical Marketing  |  Validated on CatC 2.3.7.11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35A63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2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B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BCEB"/>
                </a:solidFill>
                <a:latin typeface="Calibri"/>
              </a:rPr>
              <a:t>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"/>
            <a:ext cx="11247120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What the Catalyst Center MCP Server 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00" cy="22860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82296" cy="2286000"/>
          </a:xfrm>
          <a:prstGeom prst="rect">
            <a:avLst/>
          </a:prstGeom>
          <a:solidFill>
            <a:srgbClr val="00B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81328"/>
            <a:ext cx="5166360" cy="2103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0D274D"/>
                </a:solidFill>
                <a:latin typeface="Calibri"/>
              </a:rPr>
              <a:t>Model Context Protocol (MCP)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Open standard letting AI clients discover &amp; call structured tools at runtime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Client picks a tool, supplies params; server authenticates to CatC and returns the result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Clients can chain tools to answer broader operational questions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486400" cy="22860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82296" cy="2286000"/>
          </a:xfrm>
          <a:prstGeom prst="rect">
            <a:avLst/>
          </a:prstGeom>
          <a:solidFill>
            <a:srgbClr val="0051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481328"/>
            <a:ext cx="5166360" cy="2103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0D274D"/>
                </a:solidFill>
                <a:latin typeface="Calibri"/>
              </a:rPr>
              <a:t>catc-mcp-oss (official DevNet OSS)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Standalone Docker/Python server over streamable HTTP or STDIO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Exposes a versioned bundle of generated CatC API tools, pinned to a release branch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The baseline we will use for enhancement requests to Product Management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40480"/>
            <a:ext cx="11247120" cy="219456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840480"/>
            <a:ext cx="82296" cy="2194560"/>
          </a:xfrm>
          <a:prstGeom prst="rect">
            <a:avLst/>
          </a:prstGeom>
          <a:solidFill>
            <a:srgbClr val="1A9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950208"/>
            <a:ext cx="1092708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0D274D"/>
                </a:solidFill>
                <a:latin typeface="Calibri"/>
              </a:rPr>
              <a:t>How it fits switching operations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Any MCP client (VS Code, Claude, Cursor, Codex) → MCP server → Catalyst Center REST APIs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One server handles many switching data queries with no custom per-API integration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Capability ceiling = the API operations promoted for your controller's release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35A63"/>
                </a:solidFill>
                <a:latin typeface="Calibri"/>
              </a:rPr>
              <a:t>Catalyst Center MCP — Switching Management  |  Technical Marketing  |  Validated on CatC 2.3.7.11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35A63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2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B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BCEB"/>
                </a:solidFill>
                <a:latin typeface="Calibri"/>
              </a:rPr>
              <a:t>HEADLINE FINDING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"/>
            <a:ext cx="11247120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A Read-Centric Switching Surface (Release 2.3.7.11)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657600" cy="1554480"/>
          </a:xfrm>
          <a:prstGeom prst="rect">
            <a:avLst/>
          </a:prstGeom>
          <a:solidFill>
            <a:srgbClr val="0051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81328"/>
            <a:ext cx="365760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515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95728"/>
            <a:ext cx="3657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tools in the bundle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1687" y="1371600"/>
            <a:ext cx="3657600" cy="1554480"/>
          </a:xfrm>
          <a:prstGeom prst="rect">
            <a:avLst/>
          </a:prstGeom>
          <a:solidFill>
            <a:srgbClr val="1A9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61687" y="1481328"/>
            <a:ext cx="365760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514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1687" y="2395728"/>
            <a:ext cx="3657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READ (GET) tools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66174" y="1371600"/>
            <a:ext cx="3657600" cy="1554480"/>
          </a:xfrm>
          <a:prstGeom prst="rect">
            <a:avLst/>
          </a:prstGeom>
          <a:solidFill>
            <a:srgbClr val="C8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6174" y="1481328"/>
            <a:ext cx="365760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6174" y="2395728"/>
            <a:ext cx="3657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WRITE (POST) tool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11247120" cy="283464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200400"/>
            <a:ext cx="82296" cy="2834640"/>
          </a:xfrm>
          <a:prstGeom prst="rect">
            <a:avLst/>
          </a:prstGeom>
          <a:solidFill>
            <a:srgbClr val="C8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310128"/>
            <a:ext cx="10927080" cy="2651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0D274D"/>
                </a:solidFill>
                <a:latin typeface="Calibri"/>
              </a:rPr>
              <a:t>What this means for switching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For 2.3.7.11 the MCP is effectively a VISIBILITY / ASSURANCE / AUDIT surface for switching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The single write tool in the entire bundle is compliance remediation (POST)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No tools for VLAN/interface config, provisioning, SDA fabric edits, SWIM activate, template deploy, or command-runner execution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Safety is governed by the service account's RBAC — the MCP adds NO read-only enforcement or auth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35A63"/>
                </a:solidFill>
                <a:latin typeface="Calibri"/>
              </a:rPr>
              <a:t>Catalyst Center MCP — Switching Management  |  Technical Marketing  |  Validated on CatC 2.3.7.11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35A63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2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B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BCEB"/>
                </a:solidFill>
                <a:latin typeface="Calibri"/>
              </a:rPr>
              <a:t>TOOL CATALOG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"/>
            <a:ext cx="11247120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Switching Tools by Category (Read vs Write)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1247120" cy="402336"/>
          </a:xfrm>
          <a:prstGeom prst="rect">
            <a:avLst/>
          </a:prstGeom>
          <a:solidFill>
            <a:srgbClr val="0D2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6400800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Category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325880"/>
            <a:ext cx="1645920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1325880"/>
            <a:ext cx="2743200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Read / Write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28216"/>
            <a:ext cx="11247120" cy="402336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728216"/>
            <a:ext cx="6400800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D274D"/>
                </a:solidFill>
                <a:latin typeface="Calibri"/>
              </a:rPr>
              <a:t>Inventory &amp; device detail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1728216"/>
            <a:ext cx="1645920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~98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1728216"/>
            <a:ext cx="2743200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9D57"/>
                </a:solidFill>
                <a:latin typeface="Calibri"/>
              </a:rPr>
              <a:t>GET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130552"/>
            <a:ext cx="1124712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6400800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D274D"/>
                </a:solidFill>
                <a:latin typeface="Calibri"/>
              </a:rPr>
              <a:t>Interfaces &amp; VLANs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130552"/>
            <a:ext cx="1645920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2130552"/>
            <a:ext cx="2743200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9D57"/>
                </a:solidFill>
                <a:latin typeface="Calibri"/>
              </a:rPr>
              <a:t>GET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532888"/>
            <a:ext cx="11247120" cy="402336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532888"/>
            <a:ext cx="6400800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D274D"/>
                </a:solidFill>
                <a:latin typeface="Calibri"/>
              </a:rPr>
              <a:t>Assurance &amp; health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532888"/>
            <a:ext cx="1645920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~34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532888"/>
            <a:ext cx="2743200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9D57"/>
                </a:solidFill>
                <a:latin typeface="Calibri"/>
              </a:rPr>
              <a:t>GET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935224"/>
            <a:ext cx="1124712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2935224"/>
            <a:ext cx="6400800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D274D"/>
                </a:solidFill>
                <a:latin typeface="Calibri"/>
              </a:rPr>
              <a:t>Sites &amp; topology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2935224"/>
            <a:ext cx="1645920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2935224"/>
            <a:ext cx="2743200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9D57"/>
                </a:solidFill>
                <a:latin typeface="Calibri"/>
              </a:rPr>
              <a:t>GET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337560"/>
            <a:ext cx="11247120" cy="402336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337560"/>
            <a:ext cx="6400800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D274D"/>
                </a:solidFill>
                <a:latin typeface="Calibri"/>
              </a:rPr>
              <a:t>Templates &amp; provisioning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3337560"/>
            <a:ext cx="1645920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~39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3337560"/>
            <a:ext cx="2743200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9D57"/>
                </a:solidFill>
                <a:latin typeface="Calibri"/>
              </a:rPr>
              <a:t>GET (read only)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739896"/>
            <a:ext cx="1124712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3739896"/>
            <a:ext cx="6400800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D274D"/>
                </a:solidFill>
                <a:latin typeface="Calibri"/>
              </a:rPr>
              <a:t>SDA / fabric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3739896"/>
            <a:ext cx="1645920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3739896"/>
            <a:ext cx="2743200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9D57"/>
                </a:solidFill>
                <a:latin typeface="Calibri"/>
              </a:rPr>
              <a:t>GET (read only)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142232"/>
            <a:ext cx="11247120" cy="402336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4142232"/>
            <a:ext cx="6400800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D274D"/>
                </a:solidFill>
                <a:latin typeface="Calibri"/>
              </a:rPr>
              <a:t>Config compliance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4142232"/>
            <a:ext cx="1645920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0" y="4142232"/>
            <a:ext cx="2743200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C87A00"/>
                </a:solidFill>
                <a:latin typeface="Calibri"/>
              </a:rPr>
              <a:t>6 GET + 1 WRITE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544568"/>
            <a:ext cx="1124712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4544568"/>
            <a:ext cx="6400800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D274D"/>
                </a:solidFill>
                <a:latin typeface="Calibri"/>
              </a:rPr>
              <a:t>Command runner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4544568"/>
            <a:ext cx="1645920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69680" y="4544568"/>
            <a:ext cx="2743200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9D57"/>
                </a:solidFill>
                <a:latin typeface="Calibri"/>
              </a:rPr>
              <a:t>GET catalog only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946904"/>
            <a:ext cx="11247120" cy="402336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4946904"/>
            <a:ext cx="6400800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D274D"/>
                </a:solidFill>
                <a:latin typeface="Calibri"/>
              </a:rPr>
              <a:t>SWIM / software images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0" y="4946904"/>
            <a:ext cx="1645920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69680" y="4946904"/>
            <a:ext cx="2743200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9D57"/>
                </a:solidFill>
                <a:latin typeface="Calibri"/>
              </a:rPr>
              <a:t>GET (read only)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349240"/>
            <a:ext cx="1124712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" y="5349240"/>
            <a:ext cx="6400800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D274D"/>
                </a:solidFill>
                <a:latin typeface="Calibri"/>
              </a:rPr>
              <a:t>PnP / Day-0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32320" y="5349240"/>
            <a:ext cx="1645920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69680" y="5349240"/>
            <a:ext cx="2743200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9D57"/>
                </a:solidFill>
                <a:latin typeface="Calibri"/>
              </a:rPr>
              <a:t>GET (read only)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5751576"/>
            <a:ext cx="11247120" cy="402336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4360" y="5751576"/>
            <a:ext cx="6400800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D274D"/>
                </a:solidFill>
                <a:latin typeface="Calibri"/>
              </a:rPr>
              <a:t>Config archive &amp; audit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0" y="5751576"/>
            <a:ext cx="1645920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69680" y="5751576"/>
            <a:ext cx="2743200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9D57"/>
                </a:solidFill>
                <a:latin typeface="Calibri"/>
              </a:rPr>
              <a:t>GET (read only)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6172200"/>
            <a:ext cx="112471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0D274D"/>
                </a:solidFill>
                <a:latin typeface="Calibri"/>
              </a:rPr>
              <a:t>515 tools total across the bundle — exactly one is a write operation (compliance remediation).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35A63"/>
                </a:solidFill>
                <a:latin typeface="Calibri"/>
              </a:rPr>
              <a:t>Catalyst Center MCP — Switching Management  |  Technical Marketing  |  Validated on CatC 2.3.7.11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35A63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2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B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BCEB"/>
                </a:solidFill>
                <a:latin typeface="Calibri"/>
              </a:rPr>
              <a:t>CAPABILITIES — CAN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"/>
            <a:ext cx="11247120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Validated Live Against the Lab (Reads)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577840" cy="41148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82296" cy="4114800"/>
          </a:xfrm>
          <a:prstGeom prst="rect">
            <a:avLst/>
          </a:prstGeom>
          <a:solidFill>
            <a:srgbClr val="1A9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81328"/>
            <a:ext cx="5257800" cy="3931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0D274D"/>
                </a:solidFill>
                <a:latin typeface="Calibri"/>
              </a:rPr>
              <a:t>Inventory, interfaces &amp; config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Full device inventory — 36 devices (18 switches)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Per-device detail: model, IOS-XE, role, uptime, reachability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Stack &amp; stack-port detail, chassis / line-card / PoE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Interfaces: count, mode, speed/duplex, admin/oper (52 on C9300)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Per-device VLANs / SVIs with IP &amp; prefix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Running-config retrieval (59 KB pulled live)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486400" cy="41148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82296" cy="4114800"/>
          </a:xfrm>
          <a:prstGeom prst="rect">
            <a:avLst/>
          </a:prstGeom>
          <a:solidFill>
            <a:srgbClr val="1A9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481328"/>
            <a:ext cx="5166360" cy="3931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0D274D"/>
                </a:solidFill>
                <a:latin typeface="Calibri"/>
              </a:rPr>
              <a:t>Assurance, compliance &amp; lifecycle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Device &amp; assurance health (30 records)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Compliance posture — 13/18 switches NON_COMPLIANT found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Per-device compliance detail (RUNNING_CONFIG, IMAGE, PSIRT, EOX)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Sites / topology, SDA provisioned devices (read)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SWIM image repository list (read)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PSIRT advisories, field notices, bugs, EoX per device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623560"/>
            <a:ext cx="1124712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D274D"/>
                </a:solidFill>
                <a:latin typeface="Calibri"/>
              </a:rPr>
              <a:t>All items above were executed against the live controller via a Python MCP client and returned real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35A63"/>
                </a:solidFill>
                <a:latin typeface="Calibri"/>
              </a:rPr>
              <a:t>Catalyst Center MCP — Switching Management  |  Technical Marketing  |  Validated on CatC 2.3.7.11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35A63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2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B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BCEB"/>
                </a:solidFill>
                <a:latin typeface="Calibri"/>
              </a:rPr>
              <a:t>LIVE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"/>
            <a:ext cx="11247120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Real Switch Data Pulled Through the MCP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577840" cy="27432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82296" cy="2743200"/>
          </a:xfrm>
          <a:prstGeom prst="rect">
            <a:avLst/>
          </a:prstGeom>
          <a:solidFill>
            <a:srgbClr val="0051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81328"/>
            <a:ext cx="5257800" cy="2560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0D274D"/>
                </a:solidFill>
                <a:latin typeface="Calibri"/>
              </a:rPr>
              <a:t>JCOHOE-C9300-TOR1.cisco.com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Platform: C9300-24UX  ·  IOS-XE 26.01.1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Role: ACCESS  ·  Uptime: 89 days  ·  Reachable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Serial: FCW2134L0VB  ·  Stack: ACTIVE member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Interfaces: 52  ·  Running-config: 59 KB retrieved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486400" cy="27432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82296" cy="2743200"/>
          </a:xfrm>
          <a:prstGeom prst="rect">
            <a:avLst/>
          </a:prstGeom>
          <a:solidFill>
            <a:srgbClr val="00B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481328"/>
            <a:ext cx="5166360" cy="2560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0D274D"/>
                </a:solidFill>
                <a:latin typeface="Calibri"/>
              </a:rPr>
              <a:t>VLANs / SVIs (read)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Vlan301 → 10.85.134.193/26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Vlan311 → 10.85.134.65/26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Vlan302 → 10.85.134.129/26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Vlan696 → 192.168.199.2/24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297680"/>
            <a:ext cx="5577840" cy="173736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297680"/>
            <a:ext cx="82296" cy="1737360"/>
          </a:xfrm>
          <a:prstGeom prst="rect">
            <a:avLst/>
          </a:prstGeom>
          <a:solidFill>
            <a:srgbClr val="1A9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4407408"/>
            <a:ext cx="5257800" cy="1554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0D274D"/>
                </a:solidFill>
                <a:latin typeface="Calibri"/>
              </a:rPr>
              <a:t>Interface sample (read)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AppGigabitEthernet1/0/1 — up, trunk, 1G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FortyGigabitEthernet1/1/1 — down, dynamic_auto, 40G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297680"/>
            <a:ext cx="5486400" cy="173736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4297680"/>
            <a:ext cx="82296" cy="1737360"/>
          </a:xfrm>
          <a:prstGeom prst="rect">
            <a:avLst/>
          </a:prstGeom>
          <a:solidFill>
            <a:srgbClr val="C8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4407408"/>
            <a:ext cx="5166360" cy="1554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0D274D"/>
                </a:solidFill>
                <a:latin typeface="Calibri"/>
              </a:rPr>
              <a:t>Fleet compliance (read)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18 switches · 13 NON_COMPLIANT found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Categories: RUNNING_CONFIG / IMAGE / PSIRT / EOX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35A63"/>
                </a:solidFill>
                <a:latin typeface="Calibri"/>
              </a:rPr>
              <a:t>Catalyst Center MCP — Switching Management  |  Technical Marketing  |  Validated on CatC 2.3.7.11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35A63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2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B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BCEB"/>
                </a:solidFill>
                <a:latin typeface="Calibri"/>
              </a:rPr>
              <a:t>EVIDENCE AT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"/>
            <a:ext cx="11247120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Every GET Tool Exercised Live (514)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715768" cy="1463040"/>
          </a:xfrm>
          <a:prstGeom prst="rect">
            <a:avLst/>
          </a:prstGeom>
          <a:solidFill>
            <a:srgbClr val="1A9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2715768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229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2715768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returned real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371600"/>
            <a:ext cx="2715768" cy="1463040"/>
          </a:xfrm>
          <a:prstGeom prst="rect">
            <a:avLst/>
          </a:prstGeom>
          <a:solidFill>
            <a:srgbClr val="00B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463040"/>
            <a:ext cx="2715768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286000"/>
            <a:ext cx="2715768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valid but empty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371600"/>
            <a:ext cx="2715768" cy="1463040"/>
          </a:xfrm>
          <a:prstGeom prst="rect">
            <a:avLst/>
          </a:prstGeom>
          <a:solidFill>
            <a:srgbClr val="C8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463040"/>
            <a:ext cx="2715768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160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286000"/>
            <a:ext cx="2715768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API error*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1371600"/>
            <a:ext cx="2715768" cy="1463040"/>
          </a:xfrm>
          <a:prstGeom prst="rect">
            <a:avLst/>
          </a:prstGeom>
          <a:solidFill>
            <a:srgbClr val="535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1463040"/>
            <a:ext cx="2715768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77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286000"/>
            <a:ext cx="2715768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needs manual ID**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108960"/>
            <a:ext cx="11247120" cy="292608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108960"/>
            <a:ext cx="82296" cy="2926080"/>
          </a:xfrm>
          <a:prstGeom prst="rect">
            <a:avLst/>
          </a:prstGeom>
          <a:solidFill>
            <a:srgbClr val="0051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218688"/>
            <a:ext cx="10927080" cy="2743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0D274D"/>
                </a:solidFill>
                <a:latin typeface="Calibri"/>
              </a:rPr>
              <a:t>What this gives you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277 tools (OK + empty) produced a validated request/response contract — captured as real input/output examples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Examples span inventory, interfaces, VLANs, running-config, health, compliance, SWIM, SDA, PnP, advisories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* API errors are mostly the ambiguous {id} resolved to a device UUID where a different entity (image/site/report) was expected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** Skipped tools need IDs not present in the lab (template, report, execution, profile) — their required inputs are documented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Full appendix: get-tools-evidence.md (per-tool inputs + output samples)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35A63"/>
                </a:solidFill>
                <a:latin typeface="Calibri"/>
              </a:rPr>
              <a:t>Catalyst Center MCP — Switching Management  |  Technical Marketing  |  Validated on CatC 2.3.7.11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35A63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2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B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BCEB"/>
                </a:solidFill>
                <a:latin typeface="Calibri"/>
              </a:rPr>
              <a:t>CAPABILITIES — CANNOT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"/>
            <a:ext cx="11247120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Switching Gaps in the 2.3.7.11 Bundle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1247120" cy="47548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5120640" cy="47548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D274D"/>
                </a:solidFill>
                <a:latin typeface="Calibri"/>
              </a:rPr>
              <a:t>Configure interfaces / ports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325880"/>
            <a:ext cx="5760720" cy="47548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02A2A"/>
                </a:solidFill>
                <a:latin typeface="Calibri"/>
              </a:rPr>
              <a:t>Not available — interface tools are GET-only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01368"/>
            <a:ext cx="1124712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01368"/>
            <a:ext cx="5120640" cy="47548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D274D"/>
                </a:solidFill>
                <a:latin typeface="Calibri"/>
              </a:rPr>
              <a:t>Create / modify / delete VLANs &amp; SVIs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1801368"/>
            <a:ext cx="5760720" cy="47548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02A2A"/>
                </a:solidFill>
                <a:latin typeface="Calibri"/>
              </a:rPr>
              <a:t>Not available — VLAN tools are read-only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76856"/>
            <a:ext cx="11247120" cy="47548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276856"/>
            <a:ext cx="5120640" cy="47548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D274D"/>
                </a:solidFill>
                <a:latin typeface="Calibri"/>
              </a:rPr>
              <a:t>Deploy config templates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276856"/>
            <a:ext cx="5760720" cy="47548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02A2A"/>
                </a:solidFill>
                <a:latin typeface="Calibri"/>
              </a:rPr>
              <a:t>Not available in this bundle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52344"/>
            <a:ext cx="1124712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752344"/>
            <a:ext cx="5120640" cy="47548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D274D"/>
                </a:solidFill>
                <a:latin typeface="Calibri"/>
              </a:rPr>
              <a:t>Provision / re-provision a switch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752344"/>
            <a:ext cx="5760720" cy="47548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02A2A"/>
                </a:solidFill>
                <a:latin typeface="Calibri"/>
              </a:rPr>
              <a:t>Not available — provisioning is read-only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227832"/>
            <a:ext cx="11247120" cy="47548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227832"/>
            <a:ext cx="5120640" cy="47548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D274D"/>
                </a:solidFill>
                <a:latin typeface="Calibri"/>
              </a:rPr>
              <a:t>SDA fabric create/modify (handoff, segmentation)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3227832"/>
            <a:ext cx="5760720" cy="47548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02A2A"/>
                </a:solidFill>
                <a:latin typeface="Calibri"/>
              </a:rPr>
              <a:t>Not available — fabric tools read-only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703320"/>
            <a:ext cx="1124712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703320"/>
            <a:ext cx="5120640" cy="47548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D274D"/>
                </a:solidFill>
                <a:latin typeface="Calibri"/>
              </a:rPr>
              <a:t>SWIM distribute / activate / golden image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3703320"/>
            <a:ext cx="5760720" cy="47548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02A2A"/>
                </a:solidFill>
                <a:latin typeface="Calibri"/>
              </a:rPr>
              <a:t>Not available — only image list/summary GETs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178808"/>
            <a:ext cx="11247120" cy="47548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178808"/>
            <a:ext cx="5120640" cy="47548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D274D"/>
                </a:solidFill>
                <a:latin typeface="Calibri"/>
              </a:rPr>
              <a:t>PnP claim / onboard device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4178808"/>
            <a:ext cx="5760720" cy="47548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02A2A"/>
                </a:solidFill>
                <a:latin typeface="Calibri"/>
              </a:rPr>
              <a:t>Not available — PnP tools read-only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654296"/>
            <a:ext cx="1124712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654296"/>
            <a:ext cx="5120640" cy="47548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D274D"/>
                </a:solidFill>
                <a:latin typeface="Calibri"/>
              </a:rPr>
              <a:t>Run show/CLI commands (command runner exec)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654296"/>
            <a:ext cx="5760720" cy="47548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02A2A"/>
                </a:solidFill>
                <a:latin typeface="Calibri"/>
              </a:rPr>
              <a:t>Not available — only legit-reads catalog is bundled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129784"/>
            <a:ext cx="11247120" cy="47548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129784"/>
            <a:ext cx="5120640" cy="47548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D274D"/>
                </a:solidFill>
                <a:latin typeface="Calibri"/>
              </a:rPr>
              <a:t>api_sdaFabricSitesReadiness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0" y="5129784"/>
            <a:ext cx="5760720" cy="47548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02A2A"/>
                </a:solidFill>
                <a:latin typeface="Calibri"/>
              </a:rPr>
              <a:t>Bundled but returns HTTP 404 on 2.3.7.11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35A63"/>
                </a:solidFill>
                <a:latin typeface="Calibri"/>
              </a:rPr>
              <a:t>Catalyst Center MCP — Switching Management  |  Technical Marketing  |  Validated on CatC 2.3.7.11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35A63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2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B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BCEB"/>
                </a:solidFill>
                <a:latin typeface="Calibri"/>
              </a:rPr>
              <a:t>DEMO — THE ONE WRITE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"/>
            <a:ext cx="11247120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Compliance Remediation, End-to-End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577840" cy="219456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82296" cy="2194560"/>
          </a:xfrm>
          <a:prstGeom prst="rect">
            <a:avLst/>
          </a:prstGeom>
          <a:solidFill>
            <a:srgbClr val="C8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81328"/>
            <a:ext cx="525780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0D274D"/>
                </a:solidFill>
                <a:latin typeface="Calibri"/>
              </a:rPr>
              <a:t>Tool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api_complianceRemediation  (POST)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Path: /compliance/networkDevices/{id}/issues/remediation/provision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Required args: id (device UUID) + Content-Type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Warning: fixing mismatches can cause a network flap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486400" cy="219456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82296" cy="2194560"/>
          </a:xfrm>
          <a:prstGeom prst="rect">
            <a:avLst/>
          </a:prstGeom>
          <a:solidFill>
            <a:srgbClr val="1A9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481328"/>
            <a:ext cx="516636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0D274D"/>
                </a:solidFill>
                <a:latin typeface="Calibri"/>
              </a:rPr>
              <a:t>Validated result (VNC2-SPINE1)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Call returned an async taskId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Task progress: SUCCESS, isError: false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'Nothing to be remediated' (device compliant → no flap)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Confirms the write path works safely end-to-end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49039"/>
            <a:ext cx="11247120" cy="22860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749039"/>
            <a:ext cx="82296" cy="2286000"/>
          </a:xfrm>
          <a:prstGeom prst="rect">
            <a:avLst/>
          </a:prstGeom>
          <a:solidFill>
            <a:srgbClr val="0051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858767"/>
            <a:ext cx="10927080" cy="2103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0D274D"/>
                </a:solidFill>
                <a:latin typeface="Calibri"/>
              </a:rPr>
              <a:t>Operational takeaways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This is the ONLY mutating action in the switching surface for 2.3.7.11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No dry-run / change-preview exists — gate it behind change control &amp; human approval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On a compliant device it is a safe no-op; on a non-compliant device it pushes config and may flap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Bind a read-only account to remove write capability entirely for pure visibility use cases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35A63"/>
                </a:solidFill>
                <a:latin typeface="Calibri"/>
              </a:rPr>
              <a:t>Catalyst Center MCP — Switching Management  |  Technical Marketing  |  Validated on CatC 2.3.7.11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35A63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2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B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BCEB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"/>
            <a:ext cx="11247120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Deployment &amp; How to Run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577840" cy="237744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82296" cy="2377440"/>
          </a:xfrm>
          <a:prstGeom prst="rect">
            <a:avLst/>
          </a:prstGeom>
          <a:solidFill>
            <a:srgbClr val="0051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81328"/>
            <a:ext cx="5257800" cy="21945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0D274D"/>
                </a:solidFill>
                <a:latin typeface="Calibri"/>
              </a:rPr>
              <a:t>Runtime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Docker image or native Python 3.11+ (uvicorn)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Streamable HTTP endpoint: /v1/mcp  (also STDIO)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Health /v1/health · Readiness /v1/readiness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Config via env: CATALYST_CENTER_HOST/USERNAME/PASSWORD/VERIFY_SSL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486400" cy="237744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82296" cy="2377440"/>
          </a:xfrm>
          <a:prstGeom prst="rect">
            <a:avLst/>
          </a:prstGeom>
          <a:solidFill>
            <a:srgbClr val="00B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481328"/>
            <a:ext cx="5166360" cy="21945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0D274D"/>
                </a:solidFill>
                <a:latin typeface="Calibri"/>
              </a:rPr>
              <a:t>Clients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VS Code (.vscode/mcp.json)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Claude Desktop / Cursor (mcpServers url)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Codex (config.toml)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Any custom MCP client (e.g. fastmcp)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931920"/>
            <a:ext cx="11247120" cy="210312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931920"/>
            <a:ext cx="82296" cy="2103120"/>
          </a:xfrm>
          <a:prstGeom prst="rect">
            <a:avLst/>
          </a:prstGeom>
          <a:solidFill>
            <a:srgbClr val="1A9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4041648"/>
            <a:ext cx="10927080" cy="1920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0D274D"/>
                </a:solidFill>
                <a:latin typeface="Calibri"/>
              </a:rPr>
              <a:t>Validation environment used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Controller: jcohoe-dnac.cisco.com (10.85.134.108), CatC 2.3.7.11.71047.100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Server run natively via uv-managed Python 3.12; MCP driven by a Python fastmcp client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Self-signed lab cert → VERIFY_SSL=false (use true + managed certs in production)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35A63"/>
                </a:solidFill>
                <a:latin typeface="Calibri"/>
              </a:rPr>
              <a:t>Catalyst Center MCP — Switching Management  |  Technical Marketing  |  Validated on CatC 2.3.7.11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35A63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2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B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BCEB"/>
                </a:solidFill>
                <a:latin typeface="Calibri"/>
              </a:rPr>
              <a:t>SECURITY &amp;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"/>
            <a:ext cx="11247120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Governing the Surface Correctly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577840" cy="420624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82296" cy="420624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81328"/>
            <a:ext cx="5257800" cy="4023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C02A2A"/>
                </a:solidFill>
                <a:latin typeface="Calibri"/>
              </a:rPr>
              <a:t>Key facts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MCP has NO read-only enforcement and NO authorization layer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Every tool runs with the configured account's RBAC permissions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Treat any connected client as able to call any bundled op the account allows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No multi-controller fan-out; one controller per server instance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Results are a JSON string nested under 'result' (double-parse)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486400" cy="420624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82296" cy="4206240"/>
          </a:xfrm>
          <a:prstGeom prst="rect">
            <a:avLst/>
          </a:prstGeom>
          <a:solidFill>
            <a:srgbClr val="1A9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481328"/>
            <a:ext cx="5166360" cy="4023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0D274D"/>
                </a:solidFill>
                <a:latin typeface="Calibri"/>
              </a:rPr>
              <a:t>Recommended controls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Bind a DEDICATED, LEAST-PRIVILEGE account (read-only for visibility)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Keep the endpoint private; TLS at ingress; VERIFY_SSL=true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State explicit 'do not change' boundaries in prompts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Gate the remediation write tool behind change control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Pin the release branch to the controller version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35A63"/>
                </a:solidFill>
                <a:latin typeface="Calibri"/>
              </a:rPr>
              <a:t>Catalyst Center MCP — Switching Management  |  Technical Marketing  |  Validated on CatC 2.3.7.11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35A63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2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B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BCEB"/>
                </a:solidFill>
                <a:latin typeface="Calibri"/>
              </a:rPr>
              <a:t>DEMO PLAYBOOK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"/>
            <a:ext cx="11247120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Switching Use Cases to Show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47120" cy="466344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82296" cy="4663440"/>
          </a:xfrm>
          <a:prstGeom prst="rect">
            <a:avLst/>
          </a:prstGeom>
          <a:solidFill>
            <a:srgbClr val="0051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81328"/>
            <a:ext cx="10927080" cy="44805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0D274D"/>
                </a:solidFill>
                <a:latin typeface="Calibri"/>
              </a:rPr>
              <a:t>Each maps to specific bundled tools (see the playbook)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Switch inventory &amp; lifecycle (model, IOS-XE, EoX, reachability)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Interface &amp; VLAN audit for a specific switch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Running-config retrieval + config-archive versions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Switch health &amp; assurance triage by site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Compliance posture: who is NON_COMPLIANT and why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SWIM image posture (read) &amp; SDA fabric visibility (read)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PSIRT advisories / field notices / bugs per switch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Command-runner allowed-keywords catalog (read)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Compliance remediation (WRITE) — with change approval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35A63"/>
                </a:solidFill>
                <a:latin typeface="Calibri"/>
              </a:rPr>
              <a:t>Catalyst Center MCP — Switching Management  |  Technical Marketing  |  Validated on CatC 2.3.7.11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35A63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2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B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BCEB"/>
                </a:solidFill>
                <a:latin typeface="Calibri"/>
              </a:rPr>
              <a:t>PRODUCT 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"/>
            <a:ext cx="11247120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Candidate Enhancement Requests for PM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47120" cy="466344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82296" cy="4663440"/>
          </a:xfrm>
          <a:prstGeom prst="rect">
            <a:avLst/>
          </a:prstGeom>
          <a:solidFill>
            <a:srgbClr val="C8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81328"/>
            <a:ext cx="10927080" cy="44805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0D274D"/>
                </a:solidFill>
                <a:latin typeface="Calibri"/>
              </a:rPr>
              <a:t>Prioritized for the official OSS server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Switching day-N WRITE tools: interface/VLAN/portchannel, template deploy, provisioning, SDA fabric edits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Command-runner EXECUTION (read-only show) — catalog is exposed but execution is not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Server-side read-only mode / tool allow-list (safety independent of account RBAC)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Dry-run / change-preview for mutating tools (esp. remediation flap)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Release coverage parity — remove tools that 404 on the target release (e.g. fabric readiness)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35A63"/>
                </a:solidFill>
                <a:latin typeface="Calibri"/>
              </a:rPr>
              <a:t>•  Typed/structured output contract (avoid JSON-string-in-'result' double-parsing)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35A63"/>
                </a:solidFill>
                <a:latin typeface="Calibri"/>
              </a:rPr>
              <a:t>Catalyst Center MCP — Switching Management  |  Technical Marketing  |  Validated on CatC 2.3.7.11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35A63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0"/>
            <a:ext cx="12191695" cy="54864"/>
          </a:xfrm>
          <a:prstGeom prst="rect">
            <a:avLst/>
          </a:prstGeom>
          <a:solidFill>
            <a:srgbClr val="00B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Summary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4023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800" b="0">
                <a:solidFill>
                  <a:srgbClr val="DDE8F4"/>
                </a:solidFill>
                <a:latin typeface="Calibri"/>
              </a:rPr>
              <a:t>Today, the official Catalyst Center MCP is a strong READ/assurance surface for switching — inventory, interfaces, VLANs, running-config, health, compliance, lifecycle.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800" b="0">
                <a:solidFill>
                  <a:srgbClr val="DDE8F4"/>
                </a:solidFill>
                <a:latin typeface="Calibri"/>
              </a:rPr>
              <a:t>The only write action on 2.3.7.11 is compliance remediation; all other switching changes are not yet exposed.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800" b="1">
                <a:solidFill>
                  <a:srgbClr val="00BCEB"/>
                </a:solidFill>
                <a:latin typeface="Calibri"/>
              </a:rPr>
              <a:t>Use it now for troubleshooting, audit, and compliance; drive config-change enhancements through PM.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600" b="0">
                <a:solidFill>
                  <a:srgbClr val="C9DAEE"/>
                </a:solidFill>
                <a:latin typeface="Calibri"/>
              </a:rPr>
              <a:t>Deliverables: capability matrix · client-agnostic switching playbook · this deck.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35A63"/>
                </a:solidFill>
                <a:latin typeface="Calibri"/>
              </a:rPr>
              <a:t>Catalyst Center MCP — Switching Management  |  Technical Marketing  |  Validated on CatC 2.3.7.11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35A63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